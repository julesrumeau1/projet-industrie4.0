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Urbanist"/>
      <p:regular r:id="rId22"/>
      <p:bold r:id="rId23"/>
      <p:italic r:id="rId24"/>
      <p:boldItalic r:id="rId25"/>
    </p:embeddedFont>
    <p:embeddedFont>
      <p:font typeface="Space Grotesk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Urbanist-regular.fntdata"/><Relationship Id="rId21" Type="http://schemas.openxmlformats.org/officeDocument/2006/relationships/slide" Target="slides/slide16.xml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aceGrotesk-regular.fntdata"/><Relationship Id="rId25" Type="http://schemas.openxmlformats.org/officeDocument/2006/relationships/font" Target="fonts/Urbanist-boldItalic.fntdata"/><Relationship Id="rId27" Type="http://schemas.openxmlformats.org/officeDocument/2006/relationships/font" Target="fonts/SpaceGrotes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b6a1585b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bb6a1585b0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b6a1585b0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bb6a1585b0_1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b6a1585b0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bb6a1585b0_1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bb6a1585b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bb6a1585b0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6.jpg"/><Relationship Id="rId6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Relationship Id="rId8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35054" y="1615678"/>
            <a:ext cx="5730716" cy="3436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JUMEAU NUMÉRIQUE 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15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APPARTEMENT 4.0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029325" y="3093839"/>
            <a:ext cx="17811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Convergence IoT, Python &amp; Godot 3D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6025" y="2383323"/>
            <a:ext cx="3707225" cy="209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52500" y="3159621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01.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Vision du Projet &amp; Objectifs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52500" y="3685282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02.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Architecture du Système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52500" y="4210942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03.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Le Cœur Hardware (ESP32)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62750" y="3159621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04.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Intelligence &amp; Bridge (Python)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62750" y="3685282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05.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Le Jumeau Numérique (Godot)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62750" y="4210942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06.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Conclusion &amp; Q&amp;A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 DE PRÉSENTATION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59621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8528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1094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159621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68528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210942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9603"/>
            <a:ext cx="3492400" cy="2817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539603"/>
            <a:ext cx="3492549" cy="2817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539603"/>
            <a:ext cx="3492400" cy="281701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990600" y="2920603"/>
            <a:ext cx="282691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OPTIMISATION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90600" y="3425428"/>
            <a:ext cx="26923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Réduire la consommation énergétique par une gestion intelligente et prédictive.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768750" y="2920603"/>
            <a:ext cx="282707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SURVEILLANCE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768750" y="3425428"/>
            <a:ext cx="269244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Monitorer l'état de l'habitat en temps réel avec des données précises.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547050" y="2920603"/>
            <a:ext cx="282691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IMMERSION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547050" y="3425428"/>
            <a:ext cx="26923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Piloter son environnement via une interface 3D intuitive plutôt que des menus textuels.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POURQUOI CE PROJET 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9725"/>
            <a:ext cx="5238750" cy="527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800225"/>
            <a:ext cx="4857750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762750" y="1762125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Edge 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ESP32 (Capteurs BME280 / Servo)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762750" y="2287785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Pivot 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Broker MQTT (Mosquitto)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762750" y="2813446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Bridge 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Python (Open-Meteo &amp; Logic)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762750" y="3339107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Twin 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Godot 4 (Interface 3D interactive)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ARCHITECTURE DU SYSTÈME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176212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28778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813446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339107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1800225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L'ESP32 agit comme l'interface physique du système :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52500" y="2344935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BME280 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Lecture précise de température et humidité.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52500" y="3205757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Servo-moteur 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Contrôle physique des fenêtres.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52500" y="3731418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LEDs d'état 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Feedback visuel immédiat.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762000"/>
            <a:ext cx="52006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CŒUR HARDWARE</a:t>
            </a:r>
            <a:endParaRPr/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493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05757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31418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title="image_annotee.jpg"/>
          <p:cNvPicPr preferRelativeResize="0"/>
          <p:nvPr/>
        </p:nvPicPr>
        <p:blipFill rotWithShape="1">
          <a:blip r:embed="rId5">
            <a:alphaModFix/>
          </a:blip>
          <a:srcRect b="9420" l="0" r="0" t="0"/>
          <a:stretch/>
        </p:blipFill>
        <p:spPr>
          <a:xfrm>
            <a:off x="6096000" y="0"/>
            <a:ext cx="6095999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title="IMG_20260123_084033.jpg"/>
          <p:cNvPicPr preferRelativeResize="0"/>
          <p:nvPr/>
        </p:nvPicPr>
        <p:blipFill rotWithShape="1">
          <a:blip r:embed="rId6">
            <a:alphaModFix/>
          </a:blip>
          <a:srcRect b="9559" l="0" r="0" t="0"/>
          <a:stretch/>
        </p:blipFill>
        <p:spPr>
          <a:xfrm>
            <a:off x="6096000" y="0"/>
            <a:ext cx="6096001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10831"/>
            <a:ext cx="5238750" cy="93999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71500" y="2389137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 script Python assure la logique métier :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52500" y="2933848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Interrogation de l'API </a:t>
            </a: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Open-Meteo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52500" y="3459509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Historisation des données en fichiers JSON.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52500" y="3985170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Gestion de l'hystérésis pour le chauffage.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INTELLIGENCE PYTHON</a:t>
            </a:r>
            <a:endParaRPr/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33848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59509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85170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4806106"/>
            <a:ext cx="1907530" cy="349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42133" y="2179583"/>
            <a:ext cx="3536900" cy="353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6381750" y="2170211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INTERACTION SYNCHRONISÉE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381750" y="2598836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 scène 3D n'est pas qu'une simple vue :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762750" y="3143547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Miroir d'état 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La fenêtre 3D pivote selon la position réelle du servo.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762750" y="4004369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Contrôle Tactile 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Cliquer sur le radiateur virtuel active la LED physique.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762750" y="4865191"/>
            <a:ext cx="48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JUMEAU NUMÉRIQUE GODOT</a:t>
            </a:r>
            <a:endParaRPr/>
          </a:p>
        </p:txBody>
      </p:sp>
      <p:pic>
        <p:nvPicPr>
          <p:cNvPr descr="image.png" id="179" name="Google Shape;17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143547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004369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2625" y="2598826"/>
            <a:ext cx="4857749" cy="2740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ARCHITECTURE SYSTEME</a:t>
            </a:r>
            <a:endParaRPr/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2150" y="1297175"/>
            <a:ext cx="8067675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4739"/>
            <a:ext cx="3492400" cy="2546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674739"/>
            <a:ext cx="3492549" cy="2546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674739"/>
            <a:ext cx="3492400" cy="2546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600" y="3055739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990600" y="3436739"/>
            <a:ext cx="282691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TOPICS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990600" y="3941564"/>
            <a:ext cx="26922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home/appart/state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home/appart/cmd</a:t>
            </a:r>
            <a:endParaRPr b="0" i="0" sz="1650" u="none" cap="none" strike="noStrike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home/appart/weather</a:t>
            </a:r>
            <a:endParaRPr sz="165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200" name="Google Shape;20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8750" y="3055739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4768750" y="3436739"/>
            <a:ext cx="282707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FORMAT JSON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768750" y="3941564"/>
            <a:ext cx="2692449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Structure de données légère et universelle pour les états.</a:t>
            </a:r>
            <a:endParaRPr/>
          </a:p>
        </p:txBody>
      </p:sp>
      <p:pic>
        <p:nvPicPr>
          <p:cNvPr descr="image.png" id="203" name="Google Shape;20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47050" y="3055739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8547050" y="3436739"/>
            <a:ext cx="282691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LATENCE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547050" y="3941564"/>
            <a:ext cx="26923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Réponse quasi-instantanée (&lt; 50ms) entre réel et virtuel.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COMMUNICATION MQTT / JSON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571500" y="574178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 système assure un confort thermique optimal tout en évitant les cycles courts.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571500" y="2742307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14°C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571500" y="4075807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SEUIL ACTIVATION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6381750" y="2742307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20°C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381750" y="4075807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SEUIL ARRÊT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RÉGULATION DU CHAUFFAGE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1184675" y="3404926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Monitoring Température (Int/Ext)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1196575" y="3930600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Historisation des données (JSON)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6877050" y="3416814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Contrôle Servo-Fenêtre à distance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6877050" y="3930600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Corrélation météo Open-Meteo</a:t>
            </a:r>
            <a:endParaRPr/>
          </a:p>
        </p:txBody>
      </p:sp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422451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94811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675" y="3948100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FONCTIONNALITÉS DISPONIBLES</a:t>
            </a:r>
            <a:endParaRPr/>
          </a:p>
        </p:txBody>
      </p:sp>
      <p:pic>
        <p:nvPicPr>
          <p:cNvPr descr="image.png" id="231" name="Google Shape;23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22451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4811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2488" y="3422439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3675" y="342245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43675" y="394810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PRÉVISION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304400" y="4712782"/>
            <a:ext cx="5238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0"/>
          </a:p>
        </p:txBody>
      </p:sp>
      <p:pic>
        <p:nvPicPr>
          <p:cNvPr id="243" name="Google Shape;24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2676" y="1157301"/>
            <a:ext cx="7017600" cy="544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295275" y="205740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DEMONSTRATION</a:t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5619750" y="3314700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6"/>
          <p:cNvSpPr txBox="1"/>
          <p:nvPr/>
        </p:nvSpPr>
        <p:spPr>
          <a:xfrm>
            <a:off x="295275" y="205740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DIFFICULTÉ</a:t>
            </a:r>
            <a:r>
              <a:rPr b="1" lang="en-US" sz="600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 RENCONTRÉE</a:t>
            </a:r>
            <a:endParaRPr sz="6000"/>
          </a:p>
        </p:txBody>
      </p:sp>
      <p:sp>
        <p:nvSpPr>
          <p:cNvPr id="257" name="Google Shape;257;p26"/>
          <p:cNvSpPr/>
          <p:nvPr/>
        </p:nvSpPr>
        <p:spPr>
          <a:xfrm>
            <a:off x="5619750" y="3314700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7"/>
          <p:cNvSpPr txBox="1"/>
          <p:nvPr/>
        </p:nvSpPr>
        <p:spPr>
          <a:xfrm>
            <a:off x="295275" y="205740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AXES D’AMÉLIORATION</a:t>
            </a:r>
            <a:endParaRPr sz="6000"/>
          </a:p>
        </p:txBody>
      </p:sp>
      <p:sp>
        <p:nvSpPr>
          <p:cNvPr id="264" name="Google Shape;264;p27"/>
          <p:cNvSpPr/>
          <p:nvPr/>
        </p:nvSpPr>
        <p:spPr>
          <a:xfrm>
            <a:off x="5619750" y="3314700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8"/>
          <p:cNvSpPr txBox="1"/>
          <p:nvPr/>
        </p:nvSpPr>
        <p:spPr>
          <a:xfrm>
            <a:off x="295275" y="205740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 QUESTIONS ?</a:t>
            </a:r>
            <a:endParaRPr/>
          </a:p>
        </p:txBody>
      </p:sp>
      <p:sp>
        <p:nvSpPr>
          <p:cNvPr id="271" name="Google Shape;271;p28"/>
          <p:cNvSpPr/>
          <p:nvPr/>
        </p:nvSpPr>
        <p:spPr>
          <a:xfrm>
            <a:off x="5619750" y="3314700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 txBox="1"/>
          <p:nvPr/>
        </p:nvSpPr>
        <p:spPr>
          <a:xfrm>
            <a:off x="571500" y="3638550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Merci de votre attention.</a:t>
            </a:r>
            <a:endParaRPr/>
          </a:p>
        </p:txBody>
      </p:sp>
      <p:sp>
        <p:nvSpPr>
          <p:cNvPr id="273" name="Google Shape;273;p28"/>
          <p:cNvSpPr txBox="1"/>
          <p:nvPr/>
        </p:nvSpPr>
        <p:spPr>
          <a:xfrm>
            <a:off x="571500" y="4354710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Projet Jumeau Numérique - Industrie 4.0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